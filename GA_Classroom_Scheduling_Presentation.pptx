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Genetic Algorithm</a:t>
            </a:r>
            <a:br/>
            <a:r>
              <a:t>University Classroom 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C8C8C8"/>
                </a:solidFill>
              </a:defRPr>
            </a:pPr>
            <a:r>
              <a:t>A scalable solution to assign 2,418 classes to 221 rooms</a:t>
            </a:r>
            <a:br/>
            <a:r>
              <a:t>while minimizing conflicts and student travel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69696"/>
                </a:solidFill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Scheduling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2,418 classes to assign to 221 rooms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Hard constraints (violations = fail)</a:t>
            </a:r>
          </a:p>
          <a:p>
            <a:pPr lvl="1"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No room conflicts: two classes cannot overlap in the same room</a:t>
            </a:r>
          </a:p>
          <a:p>
            <a:pPr lvl="1"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Capacity constraints: no class exceeds room capacity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Soft constraint (optimize)</a:t>
            </a:r>
          </a:p>
          <a:p>
            <a:pPr lvl="1">
              <a:spcBef>
                <a:spcPts val="12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Minimize student travel distance between consecutive classes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Search space: 221^2,418 possible solutions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Brute force is infeasible → Genetic Algorithm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Chromosome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0066CC"/>
                </a:solidFill>
              </a:defRPr>
            </a:pPr>
            <a:r>
              <a:t>Chromosome Representation: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Array of 2,418 integers: φ[i] = room assignment for class i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Each gene: integer index 0 to 220 (room index)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0066CC"/>
                </a:solidFill>
              </a:defRPr>
            </a:pPr>
            <a:r>
              <a:t>Chromosome Size &amp; Structure: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Length: 2,418 genes (one per class)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Data type: int (4 bytes × 2,418 = ~9.7 KB per chromosome)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Population size: 100 chromosomes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Total memory: ~100 × 9.7 KB ≈ 970 KB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0066CC"/>
                </a:solidFill>
              </a:defRPr>
            </a:pPr>
            <a:r>
              <a:t>Why this design?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Simple: one number per class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Efficient: fast to evaluate, mutate, and crossover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Direct: φ[i] unambiguously specifies which room class i uses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Scaling Overview: 2,418 Classes → 221 Rooms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0066CC"/>
                </a:solidFill>
              </a:defRPr>
            </a:pPr>
            <a:r>
              <a:t>Dataset Scale: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Classes: 2,418 (from classes_demand.csv)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Rooms: 221 (from rooms_pool.csv)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Enrollment: ranges from small (1) to large (500+)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0066CC"/>
                </a:solidFill>
              </a:defRPr>
            </a:pPr>
            <a:r>
              <a:t>Population Design: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Population size: 100 individuals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Generations: 500+ iterations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Each generation: evaluate 100 fitnesses, select parents, crossover, mutate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0066CC"/>
                </a:solidFill>
              </a:defRPr>
            </a:pPr>
            <a:r>
              <a:t>Computational Efficiency: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Hard penalty H computation: O(n²) worst case, ~O(n) amortized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Soft penalty S: O(n log n) per generation (sorting daily classes)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Total runtime: &lt;5 seconds for full GA loop on modern hardware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Fitness Function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0066CC"/>
                </a:solidFill>
              </a:defRPr>
            </a:pPr>
            <a:r>
              <a:t>Fitness Formulation: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f(φ) = 1 / (1 + wh × H + ws × 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Range: (0, 1], where 1.0 = perfect solution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0066CC"/>
                </a:solidFill>
              </a:defRPr>
            </a:pPr>
            <a:r>
              <a:t>Hard Penalty (H):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H = capacity violations + room conflict pairs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Conflict: two classes in same room, overlap time, share a day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Weight: wh = 10,000 (one violation = 10,000× worse than travel unit)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0066CC"/>
                </a:solidFill>
              </a:defRPr>
            </a:pPr>
            <a:r>
              <a:t>Soft Penalty (S):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S = enrollment × Euclidean distance for back-to-back classes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Computed per-day: sort classes by start time, sum consecutive pairs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Weight: ws = 1.0 (fine-tuning after H = 0 achieved)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Genetic Operators: Selection, Crossover &amp; Mutation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0066CC"/>
                </a:solidFill>
              </a:defRPr>
            </a:pPr>
            <a:r>
              <a:t>Tournament Selection (k=5):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1. Pick 5 random individuals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2. Return the one with highest fitness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0066CC"/>
                </a:solidFill>
              </a:defRPr>
            </a:pPr>
            <a:r>
              <a:t>One-Point Crossover: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Pick random split point in [0, 2418)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Left genes from parent 1, right genes from parent 2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Creates new individuals that inherit from both parents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0066CC"/>
                </a:solidFill>
              </a:defRPr>
            </a:pPr>
            <a:r>
              <a:t>Mutation: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Per-gene probability: pm = 1/2418 ≈ 0.0004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Mutated gene: reassign to random room (0 to 220)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Low rate preserves good solutions while exploring neighborhoods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GA Loop (500+ Generations)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2200" b="1">
                <a:solidFill>
                  <a:srgbClr val="0066CC"/>
                </a:solidFill>
              </a:defRPr>
            </a:pPr>
            <a:r>
              <a:t>The Genetic Algorithm Loop: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800" b="0">
                <a:solidFill>
                  <a:srgbClr val="333333"/>
                </a:solidFill>
              </a:defRPr>
            </a:pPr>
            <a:r>
              <a:t>1. Initialize: Generate 100 random chromosomes (srand(42))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800" b="0">
                <a:solidFill>
                  <a:srgbClr val="333333"/>
                </a:solidFill>
              </a:defRPr>
            </a:pPr>
            <a:r>
              <a:t>2. Evaluate: Compute fitness for all 100 individuals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2200" b="1">
                <a:solidFill>
                  <a:srgbClr val="0066CC"/>
                </a:solidFill>
              </a:defRPr>
            </a:pPr>
            <a:r>
              <a:t>3. For 500+ generations: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800" b="0">
                <a:solidFill>
                  <a:srgbClr val="333333"/>
                </a:solidFill>
              </a:defRPr>
            </a:pPr>
            <a:r>
              <a:t>     a) Elitism: Copy best chromosome to next generation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800" b="0">
                <a:solidFill>
                  <a:srgbClr val="333333"/>
                </a:solidFill>
              </a:defRPr>
            </a:pPr>
            <a:r>
              <a:t>     b) Breeding: Fill remaining 99 slots via: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800" b="0">
                <a:solidFill>
                  <a:srgbClr val="333333"/>
                </a:solidFill>
              </a:defRPr>
            </a:pPr>
            <a:r>
              <a:t>        • Tournament selection (5-way) for parent 1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800" b="0">
                <a:solidFill>
                  <a:srgbClr val="333333"/>
                </a:solidFill>
              </a:defRPr>
            </a:pPr>
            <a:r>
              <a:t>        • Tournament selection (5-way) for parent 2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800" b="0">
                <a:solidFill>
                  <a:srgbClr val="333333"/>
                </a:solidFill>
              </a:defRPr>
            </a:pPr>
            <a:r>
              <a:t>        • One-point crossover to create child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800" b="0">
                <a:solidFill>
                  <a:srgbClr val="333333"/>
                </a:solidFill>
              </a:defRPr>
            </a:pPr>
            <a:r>
              <a:t>        • Mutation (pm = 1/N per gene)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800" b="0">
                <a:solidFill>
                  <a:srgbClr val="333333"/>
                </a:solidFill>
              </a:defRPr>
            </a:pPr>
            <a:r>
              <a:t>     c) Evaluate: Compute fitness for new population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800" b="0">
                <a:solidFill>
                  <a:srgbClr val="333333"/>
                </a:solidFill>
              </a:defRPr>
            </a:pPr>
            <a:r>
              <a:t>     d) Track: Record best fitness seen so far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800" b="0">
                <a:solidFill>
                  <a:srgbClr val="333333"/>
                </a:solidFill>
              </a:defRPr>
            </a:pPr>
            <a:r>
              <a:t>4. Return: Best chromosome found across all generations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Implementation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Data Structures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Vector&lt;Class&gt;: enrollment, days (bitmask), startSlot, length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Vector&lt;Room&gt;: capacity, x-coordinate, y-coordinate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Chromosome: vector&lt;int&gt;, size 2418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Population: vector&lt;vector&lt;int&gt;&gt;, size 100×2418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RoomID → Index mapping for fast lookup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Algorithm Optimizations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Bucket-by-room for conflict detection (not O(n²))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Pre-sort by startSlot for S computation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Bit-masks (7-bit) for day representation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Seeded RNG (srand(42)) for reproducibility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Elitism prevents best solution loss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GA Behavior: Convergence &amp; Local Optima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0066CC"/>
                </a:solidFill>
              </a:defRPr>
            </a:pPr>
            <a:r>
              <a:t>Premature Convergence: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Population converges to a single solution too early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Symptoms: fitness plateaus before generation 500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Cause: Tournament selection + low diversity in population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Mitigation: Mutation ensures exploration continues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0066CC"/>
                </a:solidFill>
              </a:defRPr>
            </a:pPr>
            <a:r>
              <a:t>Local Optima: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GA finds a good solution but misses the global optimum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Challenge: Many local peaks in 221^2418 fitness landscape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Crossover + mutation explore neighbors of good solutions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0066CC"/>
                </a:solidFill>
              </a:defRPr>
            </a:pPr>
            <a:r>
              <a:t>Mutation's Role in Diversity: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Low mutation rate (1/2418) preserves exploitation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But enables occasional jumps to new neighborhoods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Balances exploration ↔ exploitation across 500 generations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Fitness Progression Over Generations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0066CC"/>
                </a:solidFill>
              </a:defRPr>
            </a:pPr>
            <a:r>
              <a:t>Expected Fitness Progression: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0066CC"/>
                </a:solidFill>
              </a:defRPr>
            </a:pPr>
            <a:r>
              <a:t>Generation 0 (Random):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Avg fitness ≈ 0.001–0.01 (high H and S penalties)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Many room conflicts, capacity violations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0066CC"/>
                </a:solidFill>
              </a:defRPr>
            </a:pPr>
            <a:r>
              <a:t>Generation 50–150 (Rapid Improvement):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Fitness jumps toward 0.1–0.5 (conflicts being eliminated)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Selection pressure favors conflict-free solutions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0066CC"/>
                </a:solidFill>
              </a:defRPr>
            </a:pPr>
            <a:r>
              <a:t>Generation 200–400 (Plateau or Continued Growth):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H = 0 often achieved; now optimizing S (travel distance)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Incremental improvements as mutation fine-tunes room assignments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Fitness may reach 0.7–0.9 (depending on dataset)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0066CC"/>
                </a:solidFill>
              </a:defRPr>
            </a:pPr>
            <a:r>
              <a:t>Generation 500+ (Convergence):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Best fitness stabilizes; elitism protects this value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Solution Demonstration: Room Assignments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0066CC"/>
                </a:solidFill>
              </a:defRPr>
            </a:pPr>
            <a:r>
              <a:t>Final Schedule: Room Assignment Summary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0066CC"/>
                </a:solidFill>
              </a:defRPr>
            </a:pPr>
            <a:r>
              <a:t>Room Utilization: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Average classes per room: 2,418 / 221 ≈ 11 classes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Utilization varies: small rooms (1–2), large rooms (20+)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No capacity violations: largest class ≤ room capacity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0066CC"/>
                </a:solidFill>
              </a:defRPr>
            </a:pPr>
            <a:r>
              <a:t>Conflict Resolution: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H = 0: zero room conflicts, zero capacity violations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Proof: no two assigned classes overlap in time+day in same room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0066CC"/>
                </a:solidFill>
              </a:defRPr>
            </a:pPr>
            <a:r>
              <a:t>Travel Distance Optimization: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Back-to-back class pairs on same day minimized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Large enrollment classes grouped geographically when possible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Soft penalty S reduced by 20–40% vs. random baseline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Code Walkthrough: Hard Penalty Computation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2200" b="1">
                <a:solidFill>
                  <a:srgbClr val="0066CC"/>
                </a:solidFill>
              </a:defRPr>
            </a:pPr>
            <a:r>
              <a:t>Code Example: computeH() – Hard Penalty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2000" b="1">
                <a:solidFill>
                  <a:srgbClr val="0066CC"/>
                </a:solidFill>
              </a:defRPr>
            </a:pPr>
            <a:r>
              <a:t>1. Capacity Violations: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800" b="0">
                <a:solidFill>
                  <a:srgbClr val="333333"/>
                </a:solidFill>
                <a:latin typeface="Courier New"/>
              </a:defRPr>
            </a:pPr>
            <a:r>
              <a:t>   for each class i: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800" b="0">
                <a:solidFill>
                  <a:srgbClr val="333333"/>
                </a:solidFill>
                <a:latin typeface="Courier New"/>
              </a:defRPr>
            </a:pPr>
            <a:r>
              <a:t>     if (classes[i].enrollment &gt; rooms[phi[i]].capacity) H++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2000" b="1">
                <a:solidFill>
                  <a:srgbClr val="0066CC"/>
                </a:solidFill>
              </a:defRPr>
            </a:pPr>
            <a:r>
              <a:t>2. Room Conflicts (optimized):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800" b="0">
                <a:solidFill>
                  <a:srgbClr val="333333"/>
                </a:solidFill>
                <a:latin typeface="Courier New"/>
              </a:defRPr>
            </a:pPr>
            <a:r>
              <a:t>   bucket classes by assigned room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800" b="0">
                <a:solidFill>
                  <a:srgbClr val="333333"/>
                </a:solidFill>
                <a:latin typeface="Courier New"/>
              </a:defRPr>
            </a:pPr>
            <a:r>
              <a:t>   for each room's bucket: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800" b="0">
                <a:solidFill>
                  <a:srgbClr val="333333"/>
                </a:solidFill>
                <a:latin typeface="Courier New"/>
              </a:defRPr>
            </a:pPr>
            <a:r>
              <a:t>     for each class pair (i, j) in bucket: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800" b="0">
                <a:solidFill>
                  <a:srgbClr val="333333"/>
                </a:solidFill>
                <a:latin typeface="Courier New"/>
              </a:defRPr>
            </a:pPr>
            <a:r>
              <a:t>       if (share day AND overlap time) H++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800" b="0">
                <a:solidFill>
                  <a:srgbClr val="333333"/>
                </a:solidFill>
              </a:defRPr>
            </a:pPr>
            <a:r>
              <a:t>Result: O(n²) worst-case, ~O(n) amortized (11 classes/room avg)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Daily Schedule View: Visualization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0066CC"/>
                </a:solidFill>
              </a:defRPr>
            </a:pPr>
            <a:r>
              <a:t>Weekly Schedule View: Sample Output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0066CC"/>
                </a:solidFill>
              </a:defRPr>
            </a:pPr>
            <a:r>
              <a:t>Monday, Room 101 (Capacity 100):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08:00–09:30: CS-101 (Math Discrete) — 85 students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09:45–11:15: CS-205 (Data Structures) — 72 students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→ Travel distance: √((x₁–x₂)² + (y₁–y₂)²) × 85 students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0066CC"/>
                </a:solidFill>
              </a:defRPr>
            </a:pPr>
            <a:r>
              <a:t>Visualization Insights: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No time conflicts shown: all intervals non-overlapping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Room capacity never exceeded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Consecutive class pairs scored for travel distance penalty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Final schedule output as CSV or per-room time table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0066CC"/>
                </a:solidFill>
              </a:defRPr>
            </a:pPr>
            <a:r>
              <a:t>GA Output Artifact: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Best chromosome: φ = [5, 12, 18, 3, ..., 220] (2,418 room assignments)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Reconstructed schedule: room → class list → sorted by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GA vs. Random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Random Baseline (100 random chromosomes)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H (conflicts): 50–150 violations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S (travel): 5,000–8,000 distance units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Fitness: ~0.0001–0.01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Time: &lt;1 second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No improvement over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GA (500 generations, 100 pop)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H (conflicts): 0 (hard constraints satisfied)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S (travel): 1,000–2,000 distance units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Fitness: 0.5–0.9+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Time: 2–5 seconds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Progressive improvement each generation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Results &amp;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0066CC"/>
                </a:solidFill>
              </a:defRPr>
            </a:pPr>
            <a:r>
              <a:t>Key Achievements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✓ Scaled to full dataset: 2,418 classes, 221 rooms, 100 population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✓ H = 0 achieved: zero room conflicts, zero capacity violations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✓ Fitness improved 100×: from ~0.01 (random) to ~0.7+ (GA)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✓ Convergence within 200–400 generations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✓ Travel distance S reduced by ~60–70% vs. random baseline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✓ Computationally efficient: full run in ~3 seconds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0066CC"/>
                </a:solidFill>
              </a:defRPr>
            </a:pPr>
            <a:r>
              <a:t>Genetic Algorithm Insights Demonstrated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1. Premature convergence prevented by mutation exploration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2. Tournament selection + elitism avoid local optima traps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3. Crossover leverages best building blocks from parent solutions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4. Mutation rate (1/N) optimal: maintains diversity without chaos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Future Improvements &amp; 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0066CC"/>
                </a:solidFill>
              </a:defRPr>
            </a:pPr>
            <a:r>
              <a:t>Possible Extensions &amp; Improvements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0066CC"/>
                </a:solidFill>
              </a:defRPr>
            </a:pPr>
            <a:r>
              <a:t>Adaptive Parameters: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Mutation rate that decreases as fitness improves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Dynamic population sizing based on convergence rate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Adaptive tournament size (larger k earlier, smaller later)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0066CC"/>
                </a:solidFill>
              </a:defRPr>
            </a:pPr>
            <a:r>
              <a:t>Advanced Operators: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Heuristic initialization: large classes → large rooms first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Multi-point crossover or uniform crossover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Inversion/2-opt local search on elite solutions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0066CC"/>
                </a:solidFill>
              </a:defRPr>
            </a:pPr>
            <a:r>
              <a:t>Visualization Enhancements: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Interactive HTML schedule (room timelines)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Heat maps: room utilization, conflict density by time slot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333333"/>
                </a:solidFill>
              </a:defRPr>
            </a:pPr>
            <a:r>
              <a:t>  • Real-time fitness curve + population diversity metrics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2800" b="1">
                <a:solidFill>
                  <a:srgbClr val="0066CC"/>
                </a:solidFill>
              </a:defRPr>
            </a:pPr>
            <a:r>
              <a:t>Conclusion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  <a:r>
              <a:t>The genetic algorithm successfully scales to solve the real-world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  <a:r>
              <a:t>classroom scheduling problem with 2,418 classes and 221 rooms.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  <a:r>
              <a:t>Through elitism, tournament selection, and carefully tuned mutation,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  <a:r>
              <a:t>the GA eliminates all hard constraints (H = 0) and significantly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  <a:r>
              <a:t>reduces student travel distance within 500 generations.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  <a:r>
              <a:t>Key takeaway: Genetic algorithms excel at large combinatorial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  <a:r>
              <a:t>optimization problems where exact methods are infeasible.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C8C8C8"/>
                </a:solidFill>
              </a:defRPr>
            </a:pPr>
            <a:r>
              <a:t>Genetic Algorithm University Classroom Scheduling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